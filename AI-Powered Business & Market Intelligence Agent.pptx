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86A6E-7EB7-4195-9E31-C1F5CD5F4C99}" type="datetimeFigureOut">
              <a:rPr lang="en-IN" smtClean="0"/>
              <a:t>30-05-2026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E9428-6D14-4EE3-A491-E1A5ACB4AC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58817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86A6E-7EB7-4195-9E31-C1F5CD5F4C99}" type="datetimeFigureOut">
              <a:rPr lang="en-IN" smtClean="0"/>
              <a:t>30-05-2026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E9428-6D14-4EE3-A491-E1A5ACB4AC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14599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86A6E-7EB7-4195-9E31-C1F5CD5F4C99}" type="datetimeFigureOut">
              <a:rPr lang="en-IN" smtClean="0"/>
              <a:t>30-05-2026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E9428-6D14-4EE3-A491-E1A5ACB4AC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75026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86A6E-7EB7-4195-9E31-C1F5CD5F4C99}" type="datetimeFigureOut">
              <a:rPr lang="en-IN" smtClean="0"/>
              <a:t>30-05-2026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E9428-6D14-4EE3-A491-E1A5ACB4AC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2095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86A6E-7EB7-4195-9E31-C1F5CD5F4C99}" type="datetimeFigureOut">
              <a:rPr lang="en-IN" smtClean="0"/>
              <a:t>30-05-2026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E9428-6D14-4EE3-A491-E1A5ACB4AC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65341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86A6E-7EB7-4195-9E31-C1F5CD5F4C99}" type="datetimeFigureOut">
              <a:rPr lang="en-IN" smtClean="0"/>
              <a:t>30-05-2026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E9428-6D14-4EE3-A491-E1A5ACB4AC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77437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86A6E-7EB7-4195-9E31-C1F5CD5F4C99}" type="datetimeFigureOut">
              <a:rPr lang="en-IN" smtClean="0"/>
              <a:t>30-05-2026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E9428-6D14-4EE3-A491-E1A5ACB4AC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76242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86A6E-7EB7-4195-9E31-C1F5CD5F4C99}" type="datetimeFigureOut">
              <a:rPr lang="en-IN" smtClean="0"/>
              <a:t>30-05-2026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E9428-6D14-4EE3-A491-E1A5ACB4AC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19388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86A6E-7EB7-4195-9E31-C1F5CD5F4C99}" type="datetimeFigureOut">
              <a:rPr lang="en-IN" smtClean="0"/>
              <a:t>30-05-2026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E9428-6D14-4EE3-A491-E1A5ACB4AC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39619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86A6E-7EB7-4195-9E31-C1F5CD5F4C99}" type="datetimeFigureOut">
              <a:rPr lang="en-IN" smtClean="0"/>
              <a:t>30-05-2026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E9428-6D14-4EE3-A491-E1A5ACB4AC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45449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86A6E-7EB7-4195-9E31-C1F5CD5F4C99}" type="datetimeFigureOut">
              <a:rPr lang="en-IN" smtClean="0"/>
              <a:t>30-05-2026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E9428-6D14-4EE3-A491-E1A5ACB4AC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012883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86A6E-7EB7-4195-9E31-C1F5CD5F4C99}" type="datetimeFigureOut">
              <a:rPr lang="en-IN" smtClean="0"/>
              <a:t>30-05-2026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E9428-6D14-4EE3-A491-E1A5ACB4AC39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109531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86A6E-7EB7-4195-9E31-C1F5CD5F4C99}" type="datetimeFigureOut">
              <a:rPr lang="en-IN" smtClean="0"/>
              <a:t>30-05-2026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E9428-6D14-4EE3-A491-E1A5ACB4AC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621661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86A6E-7EB7-4195-9E31-C1F5CD5F4C99}" type="datetimeFigureOut">
              <a:rPr lang="en-IN" smtClean="0"/>
              <a:t>30-05-2026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E9428-6D14-4EE3-A491-E1A5ACB4AC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567736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86A6E-7EB7-4195-9E31-C1F5CD5F4C99}" type="datetimeFigureOut">
              <a:rPr lang="en-IN" smtClean="0"/>
              <a:t>30-05-2026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E9428-6D14-4EE3-A491-E1A5ACB4AC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578364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86A6E-7EB7-4195-9E31-C1F5CD5F4C99}" type="datetimeFigureOut">
              <a:rPr lang="en-IN" smtClean="0"/>
              <a:t>30-05-2026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E9428-6D14-4EE3-A491-E1A5ACB4AC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715084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86A6E-7EB7-4195-9E31-C1F5CD5F4C99}" type="datetimeFigureOut">
              <a:rPr lang="en-IN" smtClean="0"/>
              <a:t>30-05-2026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E9428-6D14-4EE3-A491-E1A5ACB4AC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935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286A6E-7EB7-4195-9E31-C1F5CD5F4C99}" type="datetimeFigureOut">
              <a:rPr lang="en-IN" smtClean="0"/>
              <a:t>30-05-2026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0E9428-6D14-4EE3-A491-E1A5ACB4AC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847915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F90ED0-C39C-34ED-F622-1E0446E793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95269" y="729072"/>
            <a:ext cx="9001462" cy="2387600"/>
          </a:xfrm>
        </p:spPr>
        <p:txBody>
          <a:bodyPr>
            <a:normAutofit fontScale="90000"/>
          </a:bodyPr>
          <a:lstStyle/>
          <a:p>
            <a:r>
              <a:rPr lang="en-IN" sz="4400" b="1" dirty="0"/>
              <a:t>AI-Powered Business &amp; Market Intelligence Agent</a:t>
            </a:r>
            <a:br>
              <a:rPr lang="en-IN" sz="4400" b="1" dirty="0"/>
            </a:br>
            <a:br>
              <a:rPr lang="en-IN" sz="4400" b="1" dirty="0"/>
            </a:br>
            <a:r>
              <a:rPr lang="en-IN" sz="2800" b="1" dirty="0"/>
              <a:t>DS Intern Hackathon – May 2026</a:t>
            </a:r>
            <a:endParaRPr lang="en-IN" sz="4400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84FD6B-5356-C4FC-B768-E0A4CC9808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338202" cy="2526890"/>
          </a:xfrm>
        </p:spPr>
        <p:txBody>
          <a:bodyPr>
            <a:normAutofit fontScale="70000" lnSpcReduction="20000"/>
          </a:bodyPr>
          <a:lstStyle/>
          <a:p>
            <a:r>
              <a:rPr lang="en-IN" sz="3600" b="1" u="sng" dirty="0"/>
              <a:t>Technologies Used:</a:t>
            </a:r>
            <a:br>
              <a:rPr lang="en-IN" sz="3600" u="sng" dirty="0"/>
            </a:br>
            <a:r>
              <a:rPr lang="en-IN" sz="3600" dirty="0"/>
              <a:t>Python, </a:t>
            </a:r>
            <a:r>
              <a:rPr lang="en-IN" sz="3600" dirty="0" err="1"/>
              <a:t>Streamlit</a:t>
            </a:r>
            <a:r>
              <a:rPr lang="en-IN" sz="3600" dirty="0"/>
              <a:t>, </a:t>
            </a:r>
            <a:r>
              <a:rPr lang="en-IN" sz="3600" dirty="0" err="1"/>
              <a:t>Groq</a:t>
            </a:r>
            <a:r>
              <a:rPr lang="en-IN" sz="3600" dirty="0"/>
              <a:t> LLM, DDGS, </a:t>
            </a:r>
            <a:r>
              <a:rPr lang="en-IN" sz="3600" dirty="0" err="1"/>
              <a:t>BeautifulSoup</a:t>
            </a:r>
            <a:endParaRPr lang="en-IN" sz="3600" dirty="0"/>
          </a:p>
          <a:p>
            <a:endParaRPr lang="en-IN" dirty="0"/>
          </a:p>
          <a:p>
            <a:endParaRPr lang="en-IN" dirty="0"/>
          </a:p>
          <a:p>
            <a:pPr algn="r"/>
            <a:r>
              <a:rPr lang="en-IN" sz="2600" b="1" dirty="0"/>
              <a:t>Developed By:</a:t>
            </a:r>
          </a:p>
          <a:p>
            <a:pPr algn="r"/>
            <a:r>
              <a:rPr lang="en-IN" sz="2900" b="1" dirty="0"/>
              <a:t>Khushi Kumari</a:t>
            </a:r>
          </a:p>
        </p:txBody>
      </p:sp>
    </p:spTree>
    <p:extLst>
      <p:ext uri="{BB962C8B-B14F-4D97-AF65-F5344CB8AC3E}">
        <p14:creationId xmlns:p14="http://schemas.microsoft.com/office/powerpoint/2010/main" val="5983567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F0AC14-739C-9136-183F-C8F98A2998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u="sng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D0BF0B-1C09-7DF8-CAF3-DA67A6DDB3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2096064"/>
            <a:ext cx="11228439" cy="415233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b="1" u="sng" dirty="0"/>
              <a:t>Business Challenge</a:t>
            </a:r>
            <a:endParaRPr lang="en-IN" sz="2400" u="sng" dirty="0"/>
          </a:p>
          <a:p>
            <a:r>
              <a:rPr lang="en-IN" dirty="0"/>
              <a:t>Competitor research is time-consuming. </a:t>
            </a:r>
          </a:p>
          <a:p>
            <a:r>
              <a:rPr lang="en-IN" dirty="0"/>
              <a:t>Market information is scattered across websites, blogs, and news sources. </a:t>
            </a:r>
          </a:p>
          <a:p>
            <a:r>
              <a:rPr lang="en-IN" dirty="0"/>
              <a:t>Product positioning and marketing analysis require significant manual effort. </a:t>
            </a:r>
          </a:p>
          <a:p>
            <a:r>
              <a:rPr lang="en-IN" dirty="0"/>
              <a:t>Businesses need faster access to actionable market intelligence. 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b="1" u="sng" dirty="0"/>
              <a:t>Goal:</a:t>
            </a:r>
            <a:br>
              <a:rPr lang="en-IN" dirty="0"/>
            </a:br>
            <a:r>
              <a:rPr lang="en-IN" dirty="0"/>
              <a:t>Build an AI-powered system that converts public web information into business intelligence.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498619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D310E8-D82F-3702-E374-8C24DD6EA4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u="sng" dirty="0"/>
              <a:t>Solution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C6A1DD-E0A5-827C-5610-362F36D457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46414" y="2130477"/>
            <a:ext cx="10353762" cy="4294904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IN" sz="2400" b="1" dirty="0"/>
              <a:t>AI-Powered Business &amp; Market Intelligence Agent</a:t>
            </a:r>
            <a:endParaRPr lang="en-IN" sz="2400" dirty="0"/>
          </a:p>
          <a:p>
            <a:pPr marL="0" indent="0">
              <a:buNone/>
            </a:pPr>
            <a:r>
              <a:rPr lang="en-IN" u="sng" dirty="0"/>
              <a:t>The system:</a:t>
            </a:r>
          </a:p>
          <a:p>
            <a:r>
              <a:rPr lang="en-IN" dirty="0"/>
              <a:t>Collects public web information </a:t>
            </a:r>
          </a:p>
          <a:p>
            <a:r>
              <a:rPr lang="en-IN" dirty="0"/>
              <a:t>Extracts relevant content </a:t>
            </a:r>
          </a:p>
          <a:p>
            <a:r>
              <a:rPr lang="en-IN" dirty="0"/>
              <a:t>Removes duplicate sources </a:t>
            </a:r>
          </a:p>
          <a:p>
            <a:r>
              <a:rPr lang="en-IN" dirty="0"/>
              <a:t>Performs AI-powered analysis </a:t>
            </a:r>
          </a:p>
          <a:p>
            <a:r>
              <a:rPr lang="en-IN" dirty="0"/>
              <a:t>Generates structured business reports </a:t>
            </a:r>
          </a:p>
          <a:p>
            <a:pPr marL="0" indent="0">
              <a:buNone/>
            </a:pPr>
            <a:r>
              <a:rPr lang="en-IN" sz="2100" b="1" u="sng" dirty="0"/>
              <a:t>Tracks Supported</a:t>
            </a:r>
            <a:endParaRPr lang="en-IN" sz="2100" u="sng" dirty="0"/>
          </a:p>
          <a:p>
            <a:r>
              <a:rPr lang="en-IN" dirty="0"/>
              <a:t>Competitor Intelligence </a:t>
            </a:r>
          </a:p>
          <a:p>
            <a:r>
              <a:rPr lang="en-IN" dirty="0"/>
              <a:t>Product Marketing Intelligence </a:t>
            </a:r>
          </a:p>
          <a:p>
            <a:r>
              <a:rPr lang="en-IN" dirty="0"/>
              <a:t>Complete Business &amp; Market Intelligence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989482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18000"/>
                <a:satMod val="160000"/>
                <a:lumMod val="28000"/>
              </a:schemeClr>
              <a:schemeClr val="bg2">
                <a:tint val="95000"/>
                <a:satMod val="160000"/>
                <a:lumMod val="116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EB8DD7-C281-5653-E3A1-BCC73B1E8B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3774" y="314632"/>
            <a:ext cx="10353761" cy="1042219"/>
          </a:xfrm>
        </p:spPr>
        <p:txBody>
          <a:bodyPr>
            <a:normAutofit/>
          </a:bodyPr>
          <a:lstStyle/>
          <a:p>
            <a:r>
              <a:rPr lang="en-IN" u="sng" dirty="0"/>
              <a:t>System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BBF109-B90C-9C8E-B8A5-07A364FBF2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2096063"/>
            <a:ext cx="5016860" cy="4639034"/>
          </a:xfrm>
        </p:spPr>
        <p:txBody>
          <a:bodyPr>
            <a:normAutofit fontScale="70000" lnSpcReduction="20000"/>
          </a:bodyPr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IN" sz="1900" dirty="0"/>
              <a:t>User Input   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IN" sz="1900" dirty="0"/>
              <a:t>  ↓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IN" sz="1900" dirty="0"/>
              <a:t>Track Selection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IN" sz="1900" dirty="0"/>
              <a:t>  ↓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IN" sz="1900" dirty="0"/>
              <a:t>Public Web Search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IN" sz="1900" dirty="0"/>
              <a:t>  ↓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IN" sz="1900" dirty="0"/>
              <a:t>Data Collection 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IN" sz="1900" dirty="0"/>
              <a:t>  ↓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IN" sz="1900" dirty="0"/>
              <a:t>Content Extraction    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IN" sz="1900" dirty="0"/>
              <a:t> ↓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IN" sz="1900" dirty="0"/>
              <a:t>Filtering &amp; Deduplication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IN" sz="1900" dirty="0"/>
              <a:t>↓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IN" sz="1900" dirty="0"/>
              <a:t>AI Analysis (</a:t>
            </a:r>
            <a:r>
              <a:rPr lang="en-IN" sz="1900" dirty="0" err="1"/>
              <a:t>Groq</a:t>
            </a:r>
            <a:r>
              <a:rPr lang="en-IN" sz="1900" dirty="0"/>
              <a:t> LLM)  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IN" sz="1900" dirty="0"/>
              <a:t> ↓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IN" sz="1900" dirty="0"/>
              <a:t>Report Generation    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IN" sz="1900" dirty="0"/>
              <a:t> ↓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IN" sz="1900" dirty="0"/>
              <a:t>Downloadable Output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</a:pPr>
            <a:endParaRPr lang="en-IN" sz="1900" dirty="0"/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</a:pPr>
            <a:endParaRPr lang="en-IN" sz="8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2D95F29-A1B8-726F-48A2-EF5A08E125B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3932" b="1"/>
          <a:stretch>
            <a:fillRect/>
          </a:stretch>
        </p:blipFill>
        <p:spPr>
          <a:xfrm>
            <a:off x="6090675" y="1935921"/>
            <a:ext cx="5439508" cy="4414638"/>
          </a:xfrm>
          <a:prstGeom prst="rect">
            <a:avLst/>
          </a:prstGeom>
          <a:ln w="190500" cap="sq">
            <a:solidFill>
              <a:srgbClr val="FFFFFF"/>
            </a:solidFill>
            <a:miter lim="800000"/>
          </a:ln>
          <a:effectLst>
            <a:outerShdw blurRad="54991" dist="17780" dir="5400000" algn="ctr" rotWithShape="0">
              <a:schemeClr val="bg1">
                <a:alpha val="40000"/>
              </a:scheme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</a:sp3d>
        </p:spPr>
      </p:pic>
    </p:spTree>
    <p:extLst>
      <p:ext uri="{BB962C8B-B14F-4D97-AF65-F5344CB8AC3E}">
        <p14:creationId xmlns:p14="http://schemas.microsoft.com/office/powerpoint/2010/main" val="24253611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18000"/>
                <a:satMod val="160000"/>
                <a:lumMod val="28000"/>
              </a:schemeClr>
              <a:schemeClr val="bg2">
                <a:tint val="95000"/>
                <a:satMod val="160000"/>
                <a:lumMod val="116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4BA2BA-4F2D-9C67-4D91-C80F6D24D8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>
            <a:normAutofit/>
          </a:bodyPr>
          <a:lstStyle/>
          <a:p>
            <a:r>
              <a:rPr lang="en-IN" u="sng"/>
              <a:t>Features Implemented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423C04-8DEB-75C2-E15D-BF4C6862EA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37760" y="2015677"/>
            <a:ext cx="5016860" cy="4475558"/>
          </a:xfrm>
        </p:spPr>
        <p:txBody>
          <a:bodyPr>
            <a:normAutofit fontScale="92500" lnSpcReduction="20000"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IN" sz="1900" b="1" u="sng" dirty="0"/>
              <a:t>Competitor Intelligence</a:t>
            </a:r>
            <a:endParaRPr lang="en-IN" sz="1900" u="sng" dirty="0"/>
          </a:p>
          <a:p>
            <a:pPr>
              <a:lnSpc>
                <a:spcPct val="110000"/>
              </a:lnSpc>
            </a:pPr>
            <a:r>
              <a:rPr lang="en-IN" sz="1900" dirty="0"/>
              <a:t>Competitor Discovery </a:t>
            </a:r>
          </a:p>
          <a:p>
            <a:pPr>
              <a:lnSpc>
                <a:spcPct val="110000"/>
              </a:lnSpc>
            </a:pPr>
            <a:r>
              <a:rPr lang="en-IN" sz="1900" dirty="0"/>
              <a:t>Competitor Ranking </a:t>
            </a:r>
          </a:p>
          <a:p>
            <a:pPr>
              <a:lnSpc>
                <a:spcPct val="110000"/>
              </a:lnSpc>
            </a:pPr>
            <a:r>
              <a:rPr lang="en-IN" sz="1900" dirty="0"/>
              <a:t>Comparison Table </a:t>
            </a:r>
          </a:p>
          <a:p>
            <a:pPr>
              <a:lnSpc>
                <a:spcPct val="110000"/>
              </a:lnSpc>
            </a:pPr>
            <a:r>
              <a:rPr lang="en-IN" sz="1900" dirty="0"/>
              <a:t>Market Gap Analysis </a:t>
            </a:r>
          </a:p>
          <a:p>
            <a:pPr>
              <a:lnSpc>
                <a:spcPct val="110000"/>
              </a:lnSpc>
            </a:pPr>
            <a:r>
              <a:rPr lang="en-IN" sz="1900" dirty="0"/>
              <a:t>Opportunity Identification 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IN" sz="1900" b="1" u="sng" dirty="0"/>
              <a:t>Product Marketing Intelligence</a:t>
            </a:r>
            <a:endParaRPr lang="en-IN" sz="1900" u="sng" dirty="0"/>
          </a:p>
          <a:p>
            <a:pPr>
              <a:lnSpc>
                <a:spcPct val="110000"/>
              </a:lnSpc>
            </a:pPr>
            <a:r>
              <a:rPr lang="en-IN" sz="1900" dirty="0"/>
              <a:t>Product Ranking </a:t>
            </a:r>
          </a:p>
          <a:p>
            <a:pPr>
              <a:lnSpc>
                <a:spcPct val="110000"/>
              </a:lnSpc>
            </a:pPr>
            <a:r>
              <a:rPr lang="en-IN" sz="1900" dirty="0"/>
              <a:t>Product Positioning Analysis </a:t>
            </a:r>
          </a:p>
          <a:p>
            <a:pPr>
              <a:lnSpc>
                <a:spcPct val="110000"/>
              </a:lnSpc>
            </a:pPr>
            <a:r>
              <a:rPr lang="en-IN" sz="1900" dirty="0"/>
              <a:t>Marketing Messaging Analysis </a:t>
            </a:r>
          </a:p>
          <a:p>
            <a:pPr>
              <a:lnSpc>
                <a:spcPct val="110000"/>
              </a:lnSpc>
            </a:pPr>
            <a:r>
              <a:rPr lang="en-IN" sz="1900" dirty="0"/>
              <a:t>Market Trends </a:t>
            </a:r>
          </a:p>
          <a:p>
            <a:pPr>
              <a:lnSpc>
                <a:spcPct val="110000"/>
              </a:lnSpc>
            </a:pPr>
            <a:r>
              <a:rPr lang="en-IN" sz="1900" dirty="0"/>
              <a:t>Recommendations</a:t>
            </a:r>
          </a:p>
          <a:p>
            <a:pPr marL="0" indent="0">
              <a:lnSpc>
                <a:spcPct val="110000"/>
              </a:lnSpc>
              <a:buNone/>
            </a:pPr>
            <a:endParaRPr lang="en-IN" sz="1000" dirty="0"/>
          </a:p>
        </p:txBody>
      </p:sp>
      <p:pic>
        <p:nvPicPr>
          <p:cNvPr id="7" name="Graphic 6" descr="Checkmark">
            <a:extLst>
              <a:ext uri="{FF2B5EF4-FFF2-40B4-BE49-F238E27FC236}">
                <a16:creationId xmlns:a16="http://schemas.microsoft.com/office/drawing/2014/main" id="{C2B12146-CB55-C8BA-88A9-FF545BBDEBC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96553" y="2210935"/>
            <a:ext cx="3567166" cy="3493180"/>
          </a:xfrm>
          <a:prstGeom prst="rect">
            <a:avLst/>
          </a:prstGeom>
          <a:ln w="190500" cap="sq">
            <a:solidFill>
              <a:srgbClr val="FFFFFF"/>
            </a:solidFill>
            <a:miter lim="800000"/>
          </a:ln>
          <a:effectLst>
            <a:outerShdw blurRad="54991" dist="17780" dir="5400000" algn="ctr" rotWithShape="0">
              <a:schemeClr val="bg1">
                <a:alpha val="40000"/>
              </a:scheme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</a:sp3d>
        </p:spPr>
      </p:pic>
    </p:spTree>
    <p:extLst>
      <p:ext uri="{BB962C8B-B14F-4D97-AF65-F5344CB8AC3E}">
        <p14:creationId xmlns:p14="http://schemas.microsoft.com/office/powerpoint/2010/main" val="12133429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18000"/>
                <a:satMod val="160000"/>
                <a:lumMod val="28000"/>
              </a:schemeClr>
              <a:schemeClr val="bg2">
                <a:tint val="95000"/>
                <a:satMod val="160000"/>
                <a:lumMod val="116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4E043A-B8E7-F978-EA03-32DDA86AAA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>
            <a:normAutofit/>
          </a:bodyPr>
          <a:lstStyle/>
          <a:p>
            <a:r>
              <a:rPr lang="en-IN" u="sng"/>
              <a:t>Results &amp; Sample Output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E46609-5550-66BD-5836-4F6D579E86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16476" y="1904162"/>
            <a:ext cx="4507291" cy="4953838"/>
          </a:xfrm>
        </p:spPr>
        <p:txBody>
          <a:bodyPr>
            <a:normAutofit fontScale="77500" lnSpcReduction="20000"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IN" sz="2300" b="1" u="sng" dirty="0"/>
              <a:t>Outputs Generated</a:t>
            </a:r>
            <a:endParaRPr lang="en-IN" sz="2300" u="sng" dirty="0"/>
          </a:p>
          <a:p>
            <a:pPr>
              <a:lnSpc>
                <a:spcPct val="110000"/>
              </a:lnSpc>
            </a:pPr>
            <a:r>
              <a:rPr lang="en-IN" sz="2300" dirty="0"/>
              <a:t>Executive Summary </a:t>
            </a:r>
          </a:p>
          <a:p>
            <a:pPr>
              <a:lnSpc>
                <a:spcPct val="110000"/>
              </a:lnSpc>
            </a:pPr>
            <a:r>
              <a:rPr lang="en-IN" sz="2300" dirty="0"/>
              <a:t>Competitor Ranking </a:t>
            </a:r>
          </a:p>
          <a:p>
            <a:pPr>
              <a:lnSpc>
                <a:spcPct val="110000"/>
              </a:lnSpc>
            </a:pPr>
            <a:r>
              <a:rPr lang="en-IN" sz="2300" dirty="0"/>
              <a:t>Product Ranking </a:t>
            </a:r>
          </a:p>
          <a:p>
            <a:pPr>
              <a:lnSpc>
                <a:spcPct val="110000"/>
              </a:lnSpc>
            </a:pPr>
            <a:r>
              <a:rPr lang="en-IN" sz="2300" dirty="0"/>
              <a:t>SWOT Analysis </a:t>
            </a:r>
          </a:p>
          <a:p>
            <a:pPr>
              <a:lnSpc>
                <a:spcPct val="110000"/>
              </a:lnSpc>
            </a:pPr>
            <a:r>
              <a:rPr lang="en-IN" sz="2300" dirty="0"/>
              <a:t>Market Trends </a:t>
            </a:r>
          </a:p>
          <a:p>
            <a:pPr>
              <a:lnSpc>
                <a:spcPct val="110000"/>
              </a:lnSpc>
            </a:pPr>
            <a:r>
              <a:rPr lang="en-IN" sz="2300" dirty="0"/>
              <a:t>Opportunities &amp; Risks </a:t>
            </a:r>
          </a:p>
          <a:p>
            <a:pPr>
              <a:lnSpc>
                <a:spcPct val="110000"/>
              </a:lnSpc>
            </a:pPr>
            <a:r>
              <a:rPr lang="en-IN" sz="2300" dirty="0"/>
              <a:t>Strategic Recommendations </a:t>
            </a:r>
          </a:p>
          <a:p>
            <a:pPr>
              <a:lnSpc>
                <a:spcPct val="110000"/>
              </a:lnSpc>
            </a:pPr>
            <a:r>
              <a:rPr lang="en-IN" sz="2300" dirty="0"/>
              <a:t>AI Usage Disclosure 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IN" sz="2300" b="1" u="sng" dirty="0"/>
              <a:t>Sample Companies Tested</a:t>
            </a:r>
            <a:endParaRPr lang="en-IN" sz="2300" u="sng" dirty="0"/>
          </a:p>
          <a:p>
            <a:pPr>
              <a:lnSpc>
                <a:spcPct val="110000"/>
              </a:lnSpc>
            </a:pPr>
            <a:r>
              <a:rPr lang="en-IN" sz="2300" dirty="0" err="1"/>
              <a:t>Freshworks</a:t>
            </a:r>
            <a:r>
              <a:rPr lang="en-IN" sz="2300" dirty="0"/>
              <a:t> </a:t>
            </a:r>
          </a:p>
          <a:p>
            <a:pPr>
              <a:lnSpc>
                <a:spcPct val="110000"/>
              </a:lnSpc>
            </a:pPr>
            <a:r>
              <a:rPr lang="en-IN" sz="2300" dirty="0"/>
              <a:t>ChatGPT </a:t>
            </a:r>
          </a:p>
          <a:p>
            <a:pPr>
              <a:lnSpc>
                <a:spcPct val="110000"/>
              </a:lnSpc>
            </a:pPr>
            <a:r>
              <a:rPr lang="en-IN" sz="2300" dirty="0"/>
              <a:t>Zomato</a:t>
            </a:r>
          </a:p>
          <a:p>
            <a:pPr marL="0" indent="0">
              <a:lnSpc>
                <a:spcPct val="110000"/>
              </a:lnSpc>
              <a:buNone/>
            </a:pPr>
            <a:endParaRPr lang="en-IN" sz="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9BD6343-B1B2-77D5-1452-E41498DBF6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758" r="24174" b="1"/>
          <a:stretch>
            <a:fillRect/>
          </a:stretch>
        </p:blipFill>
        <p:spPr>
          <a:xfrm>
            <a:off x="6802733" y="1935921"/>
            <a:ext cx="4943789" cy="4505072"/>
          </a:xfrm>
          <a:prstGeom prst="rect">
            <a:avLst/>
          </a:prstGeom>
          <a:ln w="190500" cap="sq">
            <a:solidFill>
              <a:srgbClr val="FFFFFF"/>
            </a:solidFill>
            <a:miter lim="800000"/>
          </a:ln>
          <a:effectLst>
            <a:outerShdw blurRad="54991" dist="17780" dir="5400000" algn="ctr" rotWithShape="0">
              <a:schemeClr val="bg1">
                <a:alpha val="40000"/>
              </a:scheme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</a:sp3d>
        </p:spPr>
      </p:pic>
    </p:spTree>
    <p:extLst>
      <p:ext uri="{BB962C8B-B14F-4D97-AF65-F5344CB8AC3E}">
        <p14:creationId xmlns:p14="http://schemas.microsoft.com/office/powerpoint/2010/main" val="11283735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F917F1-0778-AA3B-86CB-A6D0D7683F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5137" y="235975"/>
            <a:ext cx="10353761" cy="973394"/>
          </a:xfrm>
        </p:spPr>
        <p:txBody>
          <a:bodyPr>
            <a:normAutofit/>
          </a:bodyPr>
          <a:lstStyle/>
          <a:p>
            <a:r>
              <a:rPr lang="en-IN" sz="4400" u="sng"/>
              <a:t>Conclusion</a:t>
            </a:r>
            <a:endParaRPr lang="en-IN" sz="4400" u="s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922574-B1F1-6266-1BAD-100C34356E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1715" y="1297858"/>
            <a:ext cx="10195841" cy="518160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sz="2600" b="1" u="sng"/>
              <a:t>Project Outcome</a:t>
            </a:r>
            <a:endParaRPr lang="en-IN" sz="2600" u="sng"/>
          </a:p>
          <a:p>
            <a:r>
              <a:rPr lang="en-IN"/>
              <a:t>Successfully implemented both hackathon tracks. </a:t>
            </a:r>
          </a:p>
          <a:p>
            <a:r>
              <a:rPr lang="en-IN"/>
              <a:t>Automated competitor and market research. </a:t>
            </a:r>
          </a:p>
          <a:p>
            <a:r>
              <a:rPr lang="en-IN"/>
              <a:t>Uses public web data and AI-powered analysis. </a:t>
            </a:r>
          </a:p>
          <a:p>
            <a:r>
              <a:rPr lang="en-IN"/>
              <a:t>Generates business-readable reports with actionable insights. </a:t>
            </a:r>
          </a:p>
          <a:p>
            <a:pPr marL="0" indent="0">
              <a:buNone/>
            </a:pPr>
            <a:r>
              <a:rPr lang="en-IN" sz="2600" b="1" u="sng"/>
              <a:t>Future Improvements</a:t>
            </a:r>
            <a:endParaRPr lang="en-IN" sz="2600" u="sng"/>
          </a:p>
          <a:p>
            <a:r>
              <a:rPr lang="en-IN"/>
              <a:t>Social Media Monitoring </a:t>
            </a:r>
          </a:p>
          <a:p>
            <a:r>
              <a:rPr lang="en-IN"/>
              <a:t>RSS Feed Integration </a:t>
            </a:r>
          </a:p>
          <a:p>
            <a:r>
              <a:rPr lang="en-IN"/>
              <a:t>PDF Report Generation </a:t>
            </a:r>
          </a:p>
          <a:p>
            <a:r>
              <a:rPr lang="en-IN"/>
              <a:t>Interactive Dashboards </a:t>
            </a:r>
          </a:p>
          <a:p>
            <a:r>
              <a:rPr lang="en-IN"/>
              <a:t>Multi-Agent Architecture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677850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7EFFFA-3722-EBC7-439F-0A4D7C7E35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6815" y="2411877"/>
            <a:ext cx="10353761" cy="1326321"/>
          </a:xfrm>
        </p:spPr>
        <p:txBody>
          <a:bodyPr>
            <a:normAutofit/>
          </a:bodyPr>
          <a:lstStyle/>
          <a:p>
            <a:r>
              <a:rPr lang="en-IN" sz="600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81814002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Damask</Template>
  <TotalTime>36</TotalTime>
  <Words>277</Words>
  <Application>Microsoft Office PowerPoint</Application>
  <PresentationFormat>Widescreen</PresentationFormat>
  <Paragraphs>84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Bookman Old Style</vt:lpstr>
      <vt:lpstr>Rockwell</vt:lpstr>
      <vt:lpstr>Damask</vt:lpstr>
      <vt:lpstr>AI-Powered Business &amp; Market Intelligence Agent  DS Intern Hackathon – May 2026</vt:lpstr>
      <vt:lpstr>Problem Statement</vt:lpstr>
      <vt:lpstr>Solution Overview</vt:lpstr>
      <vt:lpstr>System Architecture</vt:lpstr>
      <vt:lpstr>Features Implemented</vt:lpstr>
      <vt:lpstr>Results &amp; Sample Output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khushi kumari</dc:creator>
  <cp:lastModifiedBy>khushi kumari</cp:lastModifiedBy>
  <cp:revision>1</cp:revision>
  <dcterms:created xsi:type="dcterms:W3CDTF">2026-05-30T15:15:06Z</dcterms:created>
  <dcterms:modified xsi:type="dcterms:W3CDTF">2026-05-30T15:51:40Z</dcterms:modified>
</cp:coreProperties>
</file>